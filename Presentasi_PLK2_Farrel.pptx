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LAPORAN AKHIR — MAGANG MANDIRI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Rancang Bangun Sistem Portal Berita</a:t>
            </a:r>
            <a:br/>
            <a:r>
              <a:t>dan Content Management System (CMS) Redaksi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7280"/>
                </a:solidFill>
              </a:defRPr>
            </a:pPr>
            <a:r>
              <a:t>di PT. Ketik Media Siber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Oleh: Farrel Aqeel Danendra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NPM: 23081010204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Program Studi Informatika — Fakultas Ilmu Komputer</a:t>
            </a:r>
            <a:br/>
            <a:r>
              <a:t>Universitas Pembangunan Nasional "Veteran" Jawa Timur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DAFTAR 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Gambaran Umum Proyek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Profil perusahaan, tech stack, arsitektur sistem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Rekognisi: Analisis Kebutuhan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51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Analisis kebutuhan fungsional &amp; non-fungsional, Use Case, UI/UX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Rekognisi: Pemrograman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REST API endpoints, backend Laravel 12, frontend Next.js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Rekognisi: Uji Coba &amp; Implementasi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480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Black-box testing, pengujian fitur, dokumentasi hasil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Penutup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394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Kesimpulan dan saran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2/24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GAMBARAN UMUM PROYEK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</a:defRPr>
            </a:pPr>
            <a:r>
              <a:t>Klojen.com adalah portal berita digital full-stack dengan arsitektur Headless CMS yang dikembangkan</a:t>
            </a:r>
            <a:br/>
            <a:r>
              <a:t>untuk PT. Ketik Media Siber, khusus melayani wilayah Kota Malang.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246888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Laravel 12</a:t>
            </a:r>
            <a:br/>
            <a:r>
              <a:t>PHP 8.2+</a:t>
            </a:r>
            <a:br/>
            <a:r>
              <a:t>MySQL 8</a:t>
            </a:r>
            <a:br/>
            <a:r>
              <a:t>JWT Auth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743200"/>
            <a:ext cx="246888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26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38328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Next.js 15</a:t>
            </a:r>
            <a:br/>
            <a:r>
              <a:t>TypeScript</a:t>
            </a:r>
            <a:br/>
            <a:r>
              <a:t>Tailwind CSS</a:t>
            </a:r>
            <a:br/>
            <a:r>
              <a:t>Zustand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743200"/>
            <a:ext cx="246888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Arsitektur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8328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Headless CMS</a:t>
            </a:r>
            <a:br/>
            <a:r>
              <a:t>Service-Repository</a:t>
            </a:r>
            <a:br/>
            <a:r>
              <a:t>REST API</a:t>
            </a:r>
            <a:br/>
            <a:r>
              <a:t>Decoupled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2743200"/>
            <a:ext cx="246888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926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Fitur Utama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38328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Editorial Workflow</a:t>
            </a:r>
            <a:br/>
            <a:r>
              <a:t>RBAC (4 Role)</a:t>
            </a:r>
            <a:br/>
            <a:r>
              <a:t>Full-Text Search</a:t>
            </a:r>
            <a:br/>
            <a:r>
              <a:t>SEO Optimized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3/24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ARSITEKTUR SISTEM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91440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Frontend (Next.js 15)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2801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Portal Publik + CMS Redaksi</a:t>
            </a:r>
            <a:br/>
            <a:r>
              <a:t>Tailwind CSS, Zustand, Axios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560320"/>
            <a:ext cx="9144000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REST API (HTTP/JSON)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50 Endpoints</a:t>
            </a:r>
            <a:br/>
            <a:r>
              <a:t>Bearer Token + JWT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93192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Backend (Laravel 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0233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Controllers → Services → Repositories</a:t>
            </a:r>
            <a:br/>
            <a:r>
              <a:t>PHP 8.2+, Service-Repository Pattern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303520"/>
            <a:ext cx="9144000" cy="1005840"/>
          </a:xfrm>
          <a:prstGeom prst="rect">
            <a:avLst/>
          </a:prstGeom>
          <a:solidFill>
            <a:srgbClr val="94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Database (MySQL 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53949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15 Tabel, UUID PK, FULLTEXT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194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566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937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097280"/>
            <a:ext cx="731520" cy="54864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600"/>
              </a:spcBef>
              <a:defRPr sz="1200" i="1">
                <a:solidFill>
                  <a:srgbClr val="6B7280"/>
                </a:solidFill>
              </a:defRPr>
            </a:pPr>
            <a:r>
              <a:t>[Diagram</a:t>
            </a:r>
            <a:br/>
            <a:r>
              <a:t>Arsitektur]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4/24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ROLE-BASED ACCESS CONTROL (RBAC)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2286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</a:defRPr>
            </a:pPr>
            <a:r>
              <a:t>Reader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Membaca artikel, bookmark,</a:t>
            </a:r>
            <a:br/>
            <a:r>
              <a:t>komentar, reset password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371600"/>
            <a:ext cx="2560320" cy="22860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</a:defRPr>
            </a:pPr>
            <a:r>
              <a:t>Journalist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Semua hak Reader +</a:t>
            </a:r>
            <a:br/>
            <a:r>
              <a:t>menulis/edit artikel draft,</a:t>
            </a:r>
            <a:br/>
            <a:r>
              <a:t>upload media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2560320" cy="2286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</a:defRPr>
            </a:pPr>
            <a:r>
              <a:t>Editor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Semua hak Journalist +</a:t>
            </a:r>
            <a:br/>
            <a:r>
              <a:t>review artikel, publish,</a:t>
            </a:r>
            <a:br/>
            <a:r>
              <a:t>lock/unlock, moderasi komentar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2560320" cy="2286000"/>
          </a:xfrm>
          <a:prstGeom prst="rect">
            <a:avLst/>
          </a:prstGeom>
          <a:solidFill>
            <a:srgbClr val="FC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</a:defRPr>
            </a:pPr>
            <a:r>
              <a:t>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Akses penuh: semua fitur</a:t>
            </a:r>
            <a:br/>
            <a:r>
              <a:t>CMS + kelola user, kategori,</a:t>
            </a:r>
            <a:br/>
            <a:r>
              <a:t>tag, dashboard analitik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Editorial Workflow (State Machine):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645920" cy="7315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4754880"/>
            <a:ext cx="1645920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892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4754880"/>
            <a:ext cx="164592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4892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PUBLISHED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4754880"/>
            <a:ext cx="16459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4892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SCHEDULED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4754880"/>
            <a:ext cx="1645920" cy="731520"/>
          </a:xfrm>
          <a:prstGeom prst="rect">
            <a:avLst/>
          </a:prstGeom>
          <a:solidFill>
            <a:srgbClr val="94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4892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ARCHIVED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5/24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REKOGNISI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Analisis Kebutuhan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Identifikasi dan analisis kebutuhan sistem Portal Berita Klojen.com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6/24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ANALISIS KEBUTUHAN FUNGSIONAL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Analisis dilakukan dengan mempelajari alur kerja redaksi PT. Ketik Media Siber secara menyeluruh.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Autentikasi &amp; Otorisasi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Register, login, logout, forgot/reset password</a:t>
            </a:r>
            <a:br/>
            <a:r>
              <a:t>RBAC: Reader, Journalist, Editor, 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Portal Publik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Beranda (featured, populer, terbaru), detail artikel,</a:t>
            </a:r>
            <a:br/>
            <a:r>
              <a:t>komentar threaded, bookmark, pencarian FULLTEXT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4904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CMS Redaksi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69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Dashboard berbasis role, Bank Berita, form tulis berita,</a:t>
            </a:r>
            <a:br/>
            <a:r>
              <a:t>tinjauan artikel, manajemen media, moderasi komentar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Workflow Editorial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State machine: draft → review → published/scheduled/</a:t>
            </a:r>
            <a:br/>
            <a:r>
              <a:t>rejected → archived, article locking, scheduled publishing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66928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Fitur Pendukung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989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Manajemen media, full-text search, analitik page views,</a:t>
            </a:r>
            <a:br/>
            <a:r>
              <a:t>SEO (sitemap, JSON-LD, OG), rate limiting komentar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371600"/>
            <a:ext cx="4114800" cy="50292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8800"/>
              </a:spcBef>
              <a:defRPr sz="1200" i="1">
                <a:solidFill>
                  <a:srgbClr val="6B7280"/>
                </a:solidFill>
              </a:defRPr>
            </a:pPr>
            <a:r>
              <a:t>[Screenshot halaman</a:t>
            </a:r>
            <a:br/>
            <a:r>
              <a:t>analisis kebutuhan /</a:t>
            </a:r>
            <a:br/>
            <a:r>
              <a:t>Figma design brief]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7/24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ANALISIS KEBUTUHAN NON-FUNGSIONAL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Performa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4630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Optimasi SEO menggunakan SSG, lazy loading gambar, dan database indexing.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10515600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Keamanan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514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JWT token pair + silent refresh, password hashing (bcrypt),</a:t>
            </a:r>
            <a:br/>
            <a:r>
              <a:t>refresh token hashing (SHA-256), anti user-enumeration, article locking.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Skalabilitas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566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Arsitektur Headless CMS — backend dan frontend</a:t>
            </a:r>
            <a:br/>
            <a:r>
              <a:t>dapat di-scale secara terpisah.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26280"/>
            <a:ext cx="10515600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Responsivitas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617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Antarmuka responsif untuk berbagai ukuran layar</a:t>
            </a:r>
            <a:br/>
            <a:r>
              <a:t>menggunakan Tailwind CSS.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77840"/>
            <a:ext cx="10515600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Pemeliharaan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669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Service-Repository Pattern, dependency injection,</a:t>
            </a:r>
            <a:br/>
            <a:r>
              <a:t>dokumentasi teknis lengkap.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8/24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USE CASE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6858000" cy="50292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8800"/>
              </a:spcBef>
              <a:defRPr sz="1200" i="1">
                <a:solidFill>
                  <a:srgbClr val="6B7280"/>
                </a:solidFill>
              </a:defRPr>
            </a:pPr>
            <a:r>
              <a:t>[MASUKKAN GAMBAR USE CASE DIAGRAM]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5 Level Aktor: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Pengunjung — beranda, artikel, search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Reader — komentar, bookmark, profil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Journalist — tulis artikel, upload media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Editor — review, publish, lock, moderasi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Admin — kelola user, kategori, tag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9/24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PERANCANGAN UI/UX (FIGMA)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Desain antarmuka dirancang menggunakan Figma sebelum diimplementasikan ke kode.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474720" cy="12801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Halaman 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Bank Berita, Tulis Berita,</a:t>
            </a:r>
            <a:br/>
            <a:r>
              <a:t>Tinjauan Artikel, Preview Berita, Profil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737360"/>
            <a:ext cx="3474720" cy="12801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Portal Publik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286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Beranda, Detail Artikel,</a:t>
            </a:r>
            <a:br/>
            <a:r>
              <a:t>Halaman Kategori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8" y="1737360"/>
            <a:ext cx="3474720" cy="12801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8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Autentikasi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8" y="2286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Login, Register,</a:t>
            </a:r>
            <a:br/>
            <a:r>
              <a:t>Reset Password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3474720" cy="301752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800"/>
              </a:spcBef>
              <a:defRPr sz="1200" i="1">
                <a:solidFill>
                  <a:srgbClr val="6B7280"/>
                </a:solidFill>
              </a:defRPr>
            </a:pPr>
            <a:r>
              <a:t>[Screenshot Figma</a:t>
            </a:r>
            <a:br/>
            <a:r>
              <a:t>CMS Editor]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3291840"/>
            <a:ext cx="3474720" cy="301752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800"/>
              </a:spcBef>
              <a:defRPr sz="1200" i="1">
                <a:solidFill>
                  <a:srgbClr val="6B7280"/>
                </a:solidFill>
              </a:defRPr>
            </a:pPr>
            <a:r>
              <a:t>[Screenshot Figma</a:t>
            </a:r>
            <a:br/>
            <a:r>
              <a:t>Portal Berita]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291840"/>
            <a:ext cx="3474720" cy="301752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800"/>
              </a:spcBef>
              <a:defRPr sz="1200" i="1">
                <a:solidFill>
                  <a:srgbClr val="6B7280"/>
                </a:solidFill>
              </a:defRPr>
            </a:pPr>
            <a:r>
              <a:t>[Screenshot Figma</a:t>
            </a:r>
            <a:br/>
            <a:r>
              <a:t>Autentikasi]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REKOGNISI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Pemrograman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Pengembangan REST API backend (Laravel 12) dan integrasi frontend (Next.js 15)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11/24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RINGKASAN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Total 50 endpoint REST API yang dikelompokkan berdasarkan fungsi: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65176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9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register, login, refresh, logout, me,</a:t>
            </a:r>
            <a:br/>
            <a:r>
              <a:t>profile, change-password, forgot/reset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737360"/>
            <a:ext cx="265176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Portal Publik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7 endpoint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beranda, articles, detail, comments,</a:t>
            </a:r>
            <a:br/>
            <a:r>
              <a:t>kategori, tags, sitemap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265176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CMS Artikel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8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CRUD artikel, update status,</a:t>
            </a:r>
            <a:br/>
            <a:r>
              <a:t>lock/unlock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737360"/>
            <a:ext cx="265176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CMS Lainnya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9 endpoint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komentar moderasi, statistik,</a:t>
            </a:r>
            <a:br/>
            <a:r>
              <a:t>kategori, tag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265176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Bookmark &amp; Media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26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6 endpoint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46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toggle bookmark, upload media,</a:t>
            </a:r>
            <a:br/>
            <a:r>
              <a:t>list media, delete media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114800"/>
            <a:ext cx="265176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User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526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6 endpoint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846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CRUD user (admin only),</a:t>
            </a:r>
            <a:br/>
            <a:r>
              <a:t>deactivate user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114800"/>
            <a:ext cx="265176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26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1 endpoint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846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</a:defRPr>
            </a:pPr>
            <a:r>
              <a:t>track page 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12/24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BACKEND: CREATE ARTICLE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CmsArticleService::createArticle()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Endpoint: POST /api/cms/articles</a:t>
            </a:r>
            <a:br/>
            <a:r>
              <a:t>Tanggung jawab: Generate slug unik, INSERT articles (status=draft),</a:t>
            </a:r>
            <a:br/>
            <a:r>
              <a:t>batch INSERT article_tags, INSERT initial revision, index ke search_indexes.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5943600" cy="3931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59436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backend/app/Services/CmsArticleService.php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public function createArticle(int $authorId, array $data): array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// 1. Tentukan slug (auto-generate jika kosong)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if (!empty($data['slug'])) {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$slug = Str::slug($data['slug']);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$this-&gt;assertSlugAvailable($slug);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} else {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$slug = $this-&gt;generateUniqueSlug($data['title']);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$articleId = (string) Str::uuid();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// 2. INSERT articles (status = draft)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DB::table('articles')-&gt;insert([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'id'                 =&gt; $articleId,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'author_id'          =&gt; $authorId,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'category_id'        =&gt; $data['category_id'] ?? null,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'title'              =&gt; $data['title'],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'slug'               =&gt; $slug,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'content'            =&gt; $data['content'],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'featured_image_url' =&gt; $data['featured_image_url'] ?? null,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'status'             =&gt; 'draft',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'view_count'         =&gt; 0,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'created_at'         =&gt; now(),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'updated_at'         =&gt; now(),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]);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// 3. Process tags + search index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$this-&gt;processTags($articleId, $data['tag_ids'] ?? []);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$this-&gt;searchService-&gt;reindexArticle($articleId);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468880"/>
            <a:ext cx="4389120" cy="393192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400"/>
              </a:spcBef>
              <a:defRPr sz="1200" i="1">
                <a:solidFill>
                  <a:srgbClr val="6B7280"/>
                </a:solidFill>
              </a:defRPr>
            </a:pPr>
            <a:r>
              <a:t>[Screenshot halaman</a:t>
            </a:r>
            <a:br/>
            <a:r>
              <a:t>Tulis Berita (CMS)]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13/24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BACKEND: EDIT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AuthController::updateProfile()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Endpoint: PUT /api/auth/profile</a:t>
            </a:r>
            <a:br/>
            <a:r>
              <a:t>Validasi: name (required), email (unique), avatar (nullable image, max 2MB)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5943600" cy="4206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9436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backend/app/Http/Controllers/AuthController.php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public function updateProfile(Request $request): JsonResponse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$user = auth('api')-&gt;user();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$validated = $request-&gt;validate([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'name'   =&gt; 'required|string|max:255',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'email'  =&gt; 'required|string|email|max:255|unique:users,email,' . $user-&gt;id,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'avatar' =&gt; 'nullable|image|mimes:jpeg,png,jpg|max:2048',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]);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if ($request-&gt;hasFile('avatar')) {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// Hapus avatar lama dari storage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if ($user-&gt;avatar_url) {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    $oldPath = str_replace(asset('storage/'), '', $user-&gt;avatar_url);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    Storage::disk('public')-&gt;delete($oldPath);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}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$path = $request-&gt;file('avatar')-&gt;store('avatars', 'public');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$validated['avatar_url'] = asset('storage/' . $path);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unset($validated['avatar']);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$user-&gt;update($validated);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return response()-&gt;json([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'status'  =&gt; 'success',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'message' =&gt; 'Profil berhasil diperbarui.',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]);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194560"/>
            <a:ext cx="4389120" cy="420624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5500"/>
              </a:spcBef>
              <a:defRPr sz="1200" i="1">
                <a:solidFill>
                  <a:srgbClr val="6B7280"/>
                </a:solidFill>
              </a:defRPr>
            </a:pPr>
            <a:r>
              <a:t>[Screenshot halaman</a:t>
            </a:r>
            <a:br/>
            <a:r>
              <a:t>Edit Profil]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14/24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BACKEND: CHANGE PASSWORD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AuthController::changePassword()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Endpoint: PUT /api/auth/change-password</a:t>
            </a:r>
            <a:br/>
            <a:r>
              <a:t>Validasi: current_password (required), new_password (min 8 karakter)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59436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9436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backend/app/Http/Controllers/AuthController.php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public function changePassword(Request $request): JsonResponse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$user = auth('api')-&gt;user();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$validated = $request-&gt;validate([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'current_password' =&gt; 'required|string',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'new_password'     =&gt; 'required|string|min:8',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]);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if (!Hash::check($validated['current_password'], $user-&gt;password)) {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return response()-&gt;json([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    'status'  =&gt; 'error',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    'message' =&gt; 'Password saat ini salah.',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], 422);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$user-&gt;update([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'password' =&gt; $validated['new_password'],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// auto-hashed via Eloquent cast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]);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return response()-&gt;json([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'status'  =&gt; 'success',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'message' =&gt; 'Password berhasil diubah.',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]);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194560"/>
            <a:ext cx="4389120" cy="36576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400"/>
              </a:spcBef>
              <a:defRPr sz="1200" i="1">
                <a:solidFill>
                  <a:srgbClr val="6B7280"/>
                </a:solidFill>
              </a:defRPr>
            </a:pPr>
            <a:r>
              <a:t>[Screenshot halaman</a:t>
            </a:r>
            <a:br/>
            <a:r>
              <a:t>Ubah Password]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15/24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FRONTEND: AXIOS INTERCEPTOR &amp; JWT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64008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64008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frontend/lib/axios.ts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frontend/lib/axios.ts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import axios from 'axios';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import { getAccessToken, setAccessToken } from '@/stores/authStore';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import { getRefreshToken, saveRefreshToken, clearRefreshToken } from '@/lib/auth';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const axiosInstance = axios.create({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baseURL: process.env.NEXT_PUBLIC_API_URL,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headers: { 'Content-Type': 'application/json' },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Request interceptor — sisipkan JWT token otomatis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axiosInstance.interceptors.request.use((config) =&gt; {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const token = getAccessToken();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if (token) config.headers.Authorization = `Bearer ${token}`;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return config;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Response interceptor — silent refresh saat TOKEN_EXPIRED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axiosInstance.interceptors.response.use(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(response) =&gt; response,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async (error) =&gt; {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const original = error.config;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if (error.response?.data?.error === 'TOKEN_EXPIRED' &amp;&amp; !original._retry) {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original._retry = true;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const res = await axiosInstance.post('/auth/refresh',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{ refresh_token: getRefreshToken() });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setAccessToken(res.data.data.access_token);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original.headers.Authorization = `Bearer ${res.data.data.access_token}`;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return axiosInstance(original);</a:t>
            </a:r>
          </a:p>
          <a:p>
            <a:pPr>
              <a:spcBef>
                <a:spcPts val="1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Mekanisme Silent Refresh: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1. Request API → attach Bearer token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2. Backend return TOKEN_EXPIRED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3. Queue request yang gagal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4. POST /auth/refresh + refresh_token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5. Dapat access_token baru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6. Retry request awal dengan token baru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7. Jika refresh gagal → force logout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4572000"/>
            <a:ext cx="4114800" cy="18288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200"/>
              </a:spcBef>
              <a:defRPr sz="1200" i="1">
                <a:solidFill>
                  <a:srgbClr val="6B7280"/>
                </a:solidFill>
              </a:defRPr>
            </a:pPr>
            <a:r>
              <a:t>[Screenshot Axios config</a:t>
            </a:r>
            <a:br/>
            <a:r>
              <a:t>di VS Code / browser]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16/24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FRONTEND: KOMPONEN REUSABLE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Rich Text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Editor konten artikel menggunakan</a:t>
            </a:r>
            <a:br/>
            <a:r>
              <a:t>library React (TipTap). Mendukung</a:t>
            </a:r>
            <a:br/>
            <a:r>
              <a:t>bold, italic, heading, list, link,</a:t>
            </a:r>
            <a:br/>
            <a:r>
              <a:t>dan penyisipan gambar.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347472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Image Cropper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Komponen crop gambar menggunakan</a:t>
            </a:r>
            <a:br/>
            <a:r>
              <a:t>react-easy-crop. Digunakan untuk</a:t>
            </a:r>
            <a:br/>
            <a:r>
              <a:t>avatar profil dan featured image.</a:t>
            </a:r>
            <a:br/>
            <a:r>
              <a:t>Hasil berupa Blob → FormData.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188720"/>
            <a:ext cx="347472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Skeleton Loading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Placeholder animasi saat data</a:t>
            </a:r>
            <a:br/>
            <a:r>
              <a:t>loading. Menggunakan animate-pulse</a:t>
            </a:r>
            <a:br/>
            <a:r>
              <a:t>Tailwind CSS. Setiap halaman</a:t>
            </a:r>
            <a:br/>
            <a:r>
              <a:t>punya skeleton custom.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347472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Toast Notification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Popup feedback tanpa library</a:t>
            </a:r>
            <a:br/>
            <a:r>
              <a:t>eksternal. Tipe: success, error,</a:t>
            </a:r>
            <a:br/>
            <a:r>
              <a:t>warning. Auto-dismiss 4 detik.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840480"/>
            <a:ext cx="347472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Modal Konfirmasi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389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Dialog popup untuk aksi destruktif.</a:t>
            </a:r>
            <a:br/>
            <a:r>
              <a:t>Backdrop blur, fade-in, tombol</a:t>
            </a:r>
            <a:br/>
            <a:r>
              <a:t>konfirmasi &amp; batal.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840480"/>
            <a:ext cx="347472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Watermark Canvas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389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Bake watermark "KLOJEN.COM"</a:t>
            </a:r>
            <a:br/>
            <a:r>
              <a:t>ke gambar via Canvas API sebelum</a:t>
            </a:r>
            <a:br/>
            <a:r>
              <a:t>upload. Rotasi -30°, opacity 40%.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17/24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FRONTEND: HALAMAN TULIS BERITA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Fitur Utama:</a:t>
            </a:r>
            <a:br/>
            <a:r>
              <a:t>- Rich Text Editor (TipTap)</a:t>
            </a:r>
            <a:br/>
            <a:r>
              <a:t>- Upload featured image + crop</a:t>
            </a:r>
            <a:br/>
            <a:r>
              <a:t>- Watermark otomatis (Canvas API)</a:t>
            </a:r>
            <a:br/>
            <a:r>
              <a:t>- Pilih kategori &amp; tag</a:t>
            </a:r>
            <a:br/>
            <a:r>
              <a:t>- Multi-foto (max 3)</a:t>
            </a:r>
            <a:br/>
            <a:r>
              <a:t>- Submit sebagai Draft / Review / Publish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5029200" cy="32004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1600"/>
              </a:spcBef>
              <a:defRPr sz="1200" i="1">
                <a:solidFill>
                  <a:srgbClr val="6B7280"/>
                </a:solidFill>
              </a:defRPr>
            </a:pPr>
            <a:r>
              <a:t>[Screenshot halaman</a:t>
            </a:r>
            <a:br/>
            <a:r>
              <a:t>Tulis Berita]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200400"/>
            <a:ext cx="5303520" cy="32004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1600"/>
              </a:spcBef>
              <a:defRPr sz="1200" i="1">
                <a:solidFill>
                  <a:srgbClr val="6B7280"/>
                </a:solidFill>
              </a:defRPr>
            </a:pPr>
            <a:r>
              <a:t>[Screenshot Rich Text</a:t>
            </a:r>
            <a:br/>
            <a:r>
              <a:t>Editor / Image Cropper]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18/24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FRONTEND: EDIT PROFIL &amp; UBAH PASSWORD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Edit Profil (PUT /api/auth/profile)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- Edit nama, email, avatar</a:t>
            </a:r>
            <a:br/>
            <a:r>
              <a:t>- Upload avatar + crop (react-easy-crop)</a:t>
            </a:r>
            <a:br/>
            <a:r>
              <a:t>- FormData + _method=PUT trick untuk Laravel</a:t>
            </a:r>
            <a:br/>
            <a:r>
              <a:t>- Fallback fetch /auth/me jika state kosong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Ubah Password (PUT /api/auth/change-password)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- Validasi: password lama, baru, konfirmasi</a:t>
            </a:r>
            <a:br/>
            <a:r>
              <a:t>- Minimal 8 karakter</a:t>
            </a:r>
            <a:br/>
            <a:r>
              <a:t>- Toggle show/hide password</a:t>
            </a:r>
            <a:br/>
            <a:r>
              <a:t>- Error handling dari 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97280"/>
            <a:ext cx="5486400" cy="256032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9000"/>
              </a:spcBef>
              <a:defRPr sz="1200" i="1">
                <a:solidFill>
                  <a:srgbClr val="6B7280"/>
                </a:solidFill>
              </a:defRPr>
            </a:pPr>
            <a:r>
              <a:t>[Screenshot halaman</a:t>
            </a:r>
            <a:br/>
            <a:r>
              <a:t>Edit Profil]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931920"/>
            <a:ext cx="5486400" cy="256032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9000"/>
              </a:spcBef>
              <a:defRPr sz="1200" i="1">
                <a:solidFill>
                  <a:srgbClr val="6B7280"/>
                </a:solidFill>
              </a:defRPr>
            </a:pPr>
            <a:r>
              <a:t>[Screenshot halaman</a:t>
            </a:r>
            <a:br/>
            <a:r>
              <a:t>Ubah Password]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19/24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REKOGNISI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Uji Coba dan Implementasi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Pengujian fitur menggunakan metode Black-Box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20/24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METODE PENGUJIAN: BLACK-BOX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</a:defRPr>
            </a:pPr>
            <a:r>
              <a:t>Pengujian dilakukan menggunakan metode Black-Box Testing — menguji fungsionalitas sistem tanpa</a:t>
            </a:r>
            <a:br/>
            <a:r>
              <a:t>melihat struktur kode internal. Setiap fitur diuji dengan skenario input valid, invalid, dan edge case.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3474720" cy="1645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Autentikasi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Register, Login, Logout, Refresh Token,</a:t>
            </a:r>
            <a:br/>
            <a:r>
              <a:t>Forgot/Reset Password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286000"/>
            <a:ext cx="3474720" cy="1645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423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Portal Publik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834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Beranda, Detail Artikel, Search,</a:t>
            </a:r>
            <a:br/>
            <a:r>
              <a:t>Kategori, Bookmark, Komentar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286000"/>
            <a:ext cx="3474720" cy="1645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23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CMS Redaksi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CRUD Artikel, Update Status, Lock/Unlock,</a:t>
            </a:r>
            <a:br/>
            <a:r>
              <a:t>Tinjauan Artikel, Media, Moderasi Komentar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3474720" cy="1645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Editorial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Draft → Review → Published/Scheduled/Rejected</a:t>
            </a:r>
            <a:br/>
            <a:r>
              <a:t>→ Archived, Scheduled Publish (cron)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4389120"/>
            <a:ext cx="3474720" cy="1645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Profil &amp; Keamanan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937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</a:defRPr>
            </a:pPr>
            <a:r>
              <a:t>Edit Profil, Ubah Password, Upload Avatar,</a:t>
            </a:r>
            <a:br/>
            <a:r>
              <a:t>JWT Silent Refresh, Role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21/24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HASIL PENGUJIAN: AUTENTIKASI &amp; PORTAL PUBLIK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Testing Autentikasi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0" cy="18288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200"/>
              </a:spcBef>
              <a:defRPr sz="1200" i="1">
                <a:solidFill>
                  <a:srgbClr val="6B7280"/>
                </a:solidFill>
              </a:defRPr>
            </a:pPr>
            <a:r>
              <a:t>[Tabel testing autentikasi:</a:t>
            </a:r>
            <a:br/>
            <a:r>
              <a:t>login, register, refresh, logout]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Testing Portal Publik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029200" cy="22860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  <a:defRPr sz="1200" i="1">
                <a:solidFill>
                  <a:srgbClr val="6B7280"/>
                </a:solidFill>
              </a:defRPr>
            </a:pPr>
            <a:r>
              <a:t>[Tabel testing portal:</a:t>
            </a:r>
            <a:br/>
            <a:r>
              <a:t>beranda, artikel, search, bookmark, komentar]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Screenshot Pengujian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5029200" cy="484632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8000"/>
              </a:spcBef>
              <a:defRPr sz="1200" i="1">
                <a:solidFill>
                  <a:srgbClr val="6B7280"/>
                </a:solidFill>
              </a:defRPr>
            </a:pPr>
            <a:r>
              <a:t>[Screenshot Postman / browser</a:t>
            </a:r>
            <a:br/>
            <a:r>
              <a:t>hasil pengujian autentikasi</a:t>
            </a:r>
            <a:br/>
            <a:r>
              <a:t>dan portal publik]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22/24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HASIL PENGUJIAN: CMS &amp; EDITORIAL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Testing CMS Redaksi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0" cy="18288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200"/>
              </a:spcBef>
              <a:defRPr sz="1200" i="1">
                <a:solidFill>
                  <a:srgbClr val="6B7280"/>
                </a:solidFill>
              </a:defRPr>
            </a:pPr>
            <a:r>
              <a:t>[Tabel testing CMS:</a:t>
            </a:r>
            <a:br/>
            <a:r>
              <a:t>CRUD artikel, media, moderasi komentar]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Testing Editorial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029200" cy="22860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  <a:defRPr sz="1200" i="1">
                <a:solidFill>
                  <a:srgbClr val="6B7280"/>
                </a:solidFill>
              </a:defRPr>
            </a:pPr>
            <a:r>
              <a:t>[Tabel testing workflow:</a:t>
            </a:r>
            <a:br/>
            <a:r>
              <a:t>draft→review→publish/schedule/reject→archive]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Screenshot Pengujian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5029200" cy="484632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8000"/>
              </a:spcBef>
              <a:defRPr sz="1200" i="1">
                <a:solidFill>
                  <a:srgbClr val="6B7280"/>
                </a:solidFill>
              </a:defRPr>
            </a:pPr>
            <a:r>
              <a:t>[Screenshot Postman / browser</a:t>
            </a:r>
            <a:br/>
            <a:r>
              <a:t>hasil pengujian CMS</a:t>
            </a:r>
            <a:br/>
            <a:r>
              <a:t>dan editorial workflow]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23/24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KESIMPULAN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783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Portal Berita Klojen.com berhasil dibangun menggunakan arsitektur Headless CMS</a:t>
            </a:r>
            <a:br/>
            <a:r>
              <a:t>dengan Laravel 12 (backend) dan Next.js 15 (frontend).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697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Rekognisi Analisis Kebutuhan — Analisis kebutuhan fungsional dan non-fungsional</a:t>
            </a:r>
            <a:br/>
            <a:r>
              <a:t>berhasil dilakukan melalui studi alur kerja redaksi PT. Ketik Media Siber.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6576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11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Rekognisi Pemrograman API — 50 endpoint REST API berhasil dikembangkan,</a:t>
            </a:r>
            <a:br/>
            <a:r>
              <a:t>termasuk fitur create article, edit profile, dan change password.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5720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526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Rekognisi Uji Coba &amp; Implementasi — Seluruh fitur berhasil diuji menggunakan</a:t>
            </a:r>
            <a:br/>
            <a:r>
              <a:t>metode Black-Box Testing dan berfungsi sesuai spesifikasi.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48640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5440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Sistem siap digunakan untuk mendukung operasional redaksi Klojen.com</a:t>
            </a:r>
            <a:br/>
            <a:r>
              <a:t>dengan workflow editorial yang terstruktur dan aman.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TERIMA KASIH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24/24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